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0"/>
            <a:ext cx="8531352" cy="4114800"/>
          </a:xfrm>
          <a:prstGeom prst="rect">
            <a:avLst/>
          </a:prstGeom>
          <a:solidFill>
            <a:srgbClr val="0D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📈  StockPulse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4748B"/>
                </a:solidFill>
                <a:latin typeface="Calibri"/>
              </a:rPr>
              <a:t>股市新聞爬蟲 · 情緒分析 · Dashboard · LINE 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3886200"/>
            <a:ext cx="1600200" cy="411480"/>
          </a:xfrm>
          <a:prstGeom prst="rect">
            <a:avLst/>
          </a:prstGeom>
          <a:solidFill>
            <a:srgbClr val="0D12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17904" y="3895344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  <a:latin typeface="Calibri"/>
              </a:rPr>
              <a:t>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3886200"/>
            <a:ext cx="1600200" cy="411480"/>
          </a:xfrm>
          <a:prstGeom prst="rect">
            <a:avLst/>
          </a:prstGeom>
          <a:solidFill>
            <a:srgbClr val="0D122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00984" y="3895344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5CF6"/>
                </a:solidFill>
                <a:latin typeface="Calibri"/>
              </a:rPr>
              <a:t>PostgreSQL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886200"/>
            <a:ext cx="1600200" cy="411480"/>
          </a:xfrm>
          <a:prstGeom prst="rect">
            <a:avLst/>
          </a:prstGeom>
          <a:solidFill>
            <a:srgbClr val="0D12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4064" y="3895344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B6D4"/>
                </a:solidFill>
                <a:latin typeface="Calibri"/>
              </a:rPr>
              <a:t>Flask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3886200"/>
            <a:ext cx="1600200" cy="411480"/>
          </a:xfrm>
          <a:prstGeom prst="rect">
            <a:avLst/>
          </a:prstGeom>
          <a:solidFill>
            <a:srgbClr val="0D12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67144" y="3895344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NVIDIA NIM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3886200"/>
            <a:ext cx="1600200" cy="411480"/>
          </a:xfrm>
          <a:prstGeom prst="rect">
            <a:avLst/>
          </a:prstGeom>
          <a:solidFill>
            <a:srgbClr val="0D1222"/>
          </a:solidFill>
          <a:ln w="12700">
            <a:solidFill>
              <a:srgbClr val="00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0224" y="3895344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900"/>
                </a:solidFill>
                <a:latin typeface="Calibri"/>
              </a:rPr>
              <a:t>LINE 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2026  ·  Brian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系統概覽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2011680" cy="141732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20116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🌐
新聞來源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Yahoo / 鉅亨 / NStock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237744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920240"/>
            <a:ext cx="2011680" cy="1417320"/>
          </a:xfrm>
          <a:prstGeom prst="rect">
            <a:avLst/>
          </a:prstGeom>
          <a:solidFill>
            <a:srgbClr val="1A22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920240"/>
            <a:ext cx="20116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20116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🕷️
分級爬蟲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43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3 來源 × 4 級別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37744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920240"/>
            <a:ext cx="2011680" cy="1417320"/>
          </a:xfrm>
          <a:prstGeom prst="rect">
            <a:avLst/>
          </a:prstGeom>
          <a:solidFill>
            <a:srgbClr val="1A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37760" y="1920240"/>
            <a:ext cx="201168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20116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🧠
AI 情緒分析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743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NVIDIA NIM  1–9 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237744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920240"/>
            <a:ext cx="2011680" cy="1417320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23760" y="1920240"/>
            <a:ext cx="20116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0" y="20116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🗄️
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743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統一資料庫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237744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920240"/>
            <a:ext cx="2011680" cy="141732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09760" y="1920240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0" y="20116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
展示層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743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Dashboard + 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749039"/>
            <a:ext cx="3474720" cy="14173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3749039"/>
            <a:ext cx="34747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84047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348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新聞來源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3749039"/>
            <a:ext cx="3474720" cy="14173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80560" y="3749039"/>
            <a:ext cx="34747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17720" y="384047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B5CF6"/>
                </a:solidFill>
                <a:latin typeface="Calibri"/>
              </a:rPr>
              <a:t>1,949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4348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覆蓋股票數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0" y="3749039"/>
            <a:ext cx="3474720" cy="14173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83880" y="3749039"/>
            <a:ext cx="3474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21040" y="384047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Calibri"/>
              </a:rPr>
              <a:t>2,978+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4348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資料庫新聞筆數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CRAWLERS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爬蟲架構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00" cy="118872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08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① Phase 1 — 抓新聞列表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0428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curl_cffi 模擬真實瀏覽器 TLS 指紋，繞過反爬蟲
非同步並發 · 指數退避重試 · 斷點續爬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54680"/>
            <a:ext cx="5486400" cy="1188720"/>
          </a:xfrm>
          <a:prstGeom prst="rect">
            <a:avLst/>
          </a:prstGeom>
          <a:solidFill>
            <a:srgbClr val="1A22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5080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② Phase 2 — 抓新聞內文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3016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fetch_content.py 補抓完整文章內容
失敗 URL 記錄，可重跑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5486400" cy="1188720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480560"/>
            <a:ext cx="5080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③ Phase 3 — AI 情緒分析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5604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NVIDIA NIM API（Llama 系列）
給每篇新聞打 1–9 分情緒評分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股票分級策略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48840"/>
            <a:ext cx="5303520" cy="96012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240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🔥 熱門股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06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974 支 · 每日抓 3 天內新聞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00400"/>
            <a:ext cx="5303520" cy="960120"/>
          </a:xfrm>
          <a:prstGeom prst="rect">
            <a:avLst/>
          </a:prstGeom>
          <a:solidFill>
            <a:srgbClr val="1A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Calibri"/>
              </a:rPr>
              <a:t>📊 中間股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57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487 支 · 每日抓 3 天內新聞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251960"/>
            <a:ext cx="5303520" cy="96012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343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📉 偏下股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709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293 支 · 每日抓 7 天內新聞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303520"/>
            <a:ext cx="5303520" cy="960120"/>
          </a:xfrm>
          <a:prstGeom prst="rect">
            <a:avLst/>
          </a:prstGeom>
          <a:solidFill>
            <a:srgbClr val="1A22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394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💤 稀少股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760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195 支 · 每日抓 7 天內新聞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三大新聞來源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74519"/>
            <a:ext cx="3749039" cy="2926080"/>
          </a:xfrm>
          <a:prstGeom prst="rect">
            <a:avLst/>
          </a:prstGeom>
          <a:solidFill>
            <a:srgbClr val="1A22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874519"/>
            <a:ext cx="3749039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Calibri"/>
              </a:rPr>
              <a:t>🟣  Yahoo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crawler_hot / mid / lower / rare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fetch_content.py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112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analyze_sentiment.py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867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Calibri"/>
              </a:rPr>
              <a:t>→ 6 支腳本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19" y="1874519"/>
            <a:ext cx="3749039" cy="292608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19" y="1874519"/>
            <a:ext cx="374903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79" y="1965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Calibri"/>
              </a:rPr>
              <a:t>🔵  鉅亨網 Cnyes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crawler_hot / mid / lower / rare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3035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fetch_content.py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5112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analyze_sentiment.py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39867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→ 6 支腳本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58" y="1874519"/>
            <a:ext cx="3749039" cy="2926080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758" y="1874519"/>
            <a:ext cx="3749039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18" y="1965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🟢  NStock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crawler_hot / mid / lower / rare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8" y="3035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fetch_content.py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8" y="35112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analyze_sentiment.py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8" y="39867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→ 6 支腳本 + 工具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資料庫結構（PostgreSQL）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6858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0195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Calibri"/>
              </a:rPr>
              <a:t>🗄️  yahoo / cnyes / nstock_stock_news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6858000" cy="429768"/>
          </a:xfrm>
          <a:prstGeom prst="rect">
            <a:avLst/>
          </a:prstGeom>
          <a:solidFill>
            <a:srgbClr val="1A2235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  <a:latin typeface="Courier New"/>
              </a:rPr>
              <a:t>stock_id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59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5CF6"/>
                </a:solidFill>
                <a:latin typeface="Calibri"/>
              </a:rPr>
              <a:t>VARCHAR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3591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股票代碼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15768"/>
            <a:ext cx="6858000" cy="429768"/>
          </a:xfrm>
          <a:prstGeom prst="rect">
            <a:avLst/>
          </a:prstGeom>
          <a:solidFill>
            <a:srgbClr val="1A2235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  <a:latin typeface="Courier New"/>
              </a:rPr>
              <a:t>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5CF6"/>
                </a:solidFill>
                <a:latin typeface="Calibri"/>
              </a:rPr>
              <a:t>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788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新聞標題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45536"/>
            <a:ext cx="6858000" cy="429768"/>
          </a:xfrm>
          <a:prstGeom prst="rect">
            <a:avLst/>
          </a:prstGeom>
          <a:solidFill>
            <a:srgbClr val="1A2235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218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  <a:latin typeface="Courier New"/>
              </a:rPr>
              <a:t>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218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5CF6"/>
                </a:solidFill>
                <a:latin typeface="Calibri"/>
              </a:rPr>
              <a:t>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2186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原始網址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75304"/>
            <a:ext cx="6858000" cy="429768"/>
          </a:xfrm>
          <a:prstGeom prst="rect">
            <a:avLst/>
          </a:prstGeom>
          <a:solidFill>
            <a:srgbClr val="1A2235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6484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  <a:latin typeface="Courier New"/>
              </a:rPr>
              <a:t>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6484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5CF6"/>
                </a:solidFill>
                <a:latin typeface="Calibri"/>
              </a:rPr>
              <a:t>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6484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新聞內文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05072"/>
            <a:ext cx="6858000" cy="429768"/>
          </a:xfrm>
          <a:prstGeom prst="rect">
            <a:avLst/>
          </a:prstGeom>
          <a:solidFill>
            <a:srgbClr val="1A2235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0782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  <a:latin typeface="Courier New"/>
              </a:rPr>
              <a:t>sentiment_score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0782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5CF6"/>
                </a:solidFill>
                <a:latin typeface="Calibri"/>
              </a:rPr>
              <a:t>INTEGER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0782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情緒分數 1–9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6858000" cy="429768"/>
          </a:xfrm>
          <a:prstGeom prst="rect">
            <a:avLst/>
          </a:prstGeom>
          <a:solidFill>
            <a:srgbClr val="1A2235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507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  <a:latin typeface="Courier New"/>
              </a:rPr>
              <a:t>fetched_at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5079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5CF6"/>
                </a:solidFill>
                <a:latin typeface="Calibri"/>
              </a:rPr>
              <a:t>TIMESTAMP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5079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抓取時間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64608"/>
            <a:ext cx="6858000" cy="429768"/>
          </a:xfrm>
          <a:prstGeom prst="rect">
            <a:avLst/>
          </a:prstGeom>
          <a:solidFill>
            <a:srgbClr val="1A2235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4937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  <a:latin typeface="Courier New"/>
              </a:rPr>
              <a:t>fetched_date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5CF6"/>
                </a:solidFill>
                <a:latin typeface="Calibri"/>
              </a:rPr>
              <a:t>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937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抓取日期（索引）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1874519"/>
            <a:ext cx="42062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26679" y="19019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📋  stock_mapping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2715768"/>
            <a:ext cx="4206240" cy="429768"/>
          </a:xfrm>
          <a:prstGeom prst="rect">
            <a:avLst/>
          </a:prstGeom>
          <a:solidFill>
            <a:srgbClr val="1A2235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26679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  <a:latin typeface="Courier New"/>
              </a:rPr>
              <a:t>stock_id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788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5CF6"/>
                </a:solidFill>
                <a:latin typeface="Calibri"/>
              </a:rPr>
              <a:t>VARCHAR PK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3145536"/>
            <a:ext cx="4206240" cy="429768"/>
          </a:xfrm>
          <a:prstGeom prst="rect">
            <a:avLst/>
          </a:prstGeom>
          <a:solidFill>
            <a:srgbClr val="1A2235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26679" y="3218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  <a:latin typeface="Courier New"/>
              </a:rPr>
              <a:t>stock_name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32186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5CF6"/>
                </a:solidFill>
                <a:latin typeface="Calibri"/>
              </a:rPr>
              <a:t>VARCHAR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2880360"/>
            <a:ext cx="4206240" cy="1280160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26679" y="29443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🔗  跨源合併查詢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333756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UNION ALL 合併所有來源
DISTINCT ON 去重
避免同篇新聞重複顯示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Dashboard 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874519"/>
            <a:ext cx="278892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27889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65959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B5CF6"/>
                </a:solidFill>
                <a:latin typeface="Calibri"/>
              </a:rPr>
              <a:t>2,472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1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本週總新聞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874519"/>
            <a:ext cx="278892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73552" y="1874519"/>
            <a:ext cx="27889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10712" y="1965959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C4899"/>
                </a:solidFill>
                <a:latin typeface="Calibri"/>
              </a:rPr>
              <a:t>6.09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56031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平均情緒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1874519"/>
            <a:ext cx="278892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7064" y="1874519"/>
            <a:ext cx="27889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965959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  <a:latin typeface="Calibri"/>
              </a:rPr>
              <a:t>913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56031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正面新聞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0576" y="1874519"/>
            <a:ext cx="278892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0576" y="1874519"/>
            <a:ext cx="27889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17736" y="1965959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9E0B"/>
                </a:solidFill>
                <a:latin typeface="Calibri"/>
              </a:rPr>
              <a:t>130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256031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負面新聞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29000"/>
            <a:ext cx="3749039" cy="256032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429000"/>
            <a:ext cx="374903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🔥  TOP 5 熱門股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690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1. 華邦電 (23 則)
2. 旺宏 (22 則)
3. 力積電 (21 則)
4. 台積電 (21 則)
5. 聯電 (21 則)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429000"/>
            <a:ext cx="3749039" cy="2560320"/>
          </a:xfrm>
          <a:prstGeom prst="rect">
            <a:avLst/>
          </a:prstGeom>
          <a:solidFill>
            <a:srgbClr val="1A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06240" y="3429000"/>
            <a:ext cx="3749039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📊  情緒趨勢折線圖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0690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過去 7 天每日平均情緒
Chart.js v4.4 · 橙色主題
趨勢：5.58 → 6.60 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3429000"/>
            <a:ext cx="3749039" cy="2560320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92440" y="3429000"/>
            <a:ext cx="3749039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⚡  即時更新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0690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每 30 秒自動刷新
最新 20 則新聞串流
近 30 天趨勢圖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LINE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LINE Bot 指令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5486400" cy="86868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080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4767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🔍  查詢 [股票名稱]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1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查詢特定股票最新新聞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39"/>
            <a:ext cx="5486400" cy="86868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834639"/>
            <a:ext cx="508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🔥  熱門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3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最活躍 10 檔股票排行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59"/>
            <a:ext cx="5486400" cy="868680"/>
          </a:xfrm>
          <a:prstGeom prst="rect">
            <a:avLst/>
          </a:prstGeom>
          <a:solidFill>
            <a:srgbClr val="1A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794759"/>
            <a:ext cx="5080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86791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Calibri"/>
              </a:rPr>
              <a:t>🆕  最新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5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最新 5 則新聞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79"/>
            <a:ext cx="5486400" cy="868680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754879"/>
            <a:ext cx="508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82803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📈  正面 / 負面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1207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依情緒分數過濾（7-9 / 1-3）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14999"/>
            <a:ext cx="5486400" cy="868680"/>
          </a:xfrm>
          <a:prstGeom prst="rect">
            <a:avLst/>
          </a:prstGeom>
          <a:solidFill>
            <a:srgbClr val="1A2235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5714999"/>
            <a:ext cx="5080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78815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📊  一周 / 本周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17219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最近 7 天新聞分析摘要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874519"/>
            <a:ext cx="5303520" cy="3794760"/>
          </a:xfrm>
          <a:prstGeom prst="rect">
            <a:avLst/>
          </a:prstGeom>
          <a:solidFill>
            <a:srgbClr val="0612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19385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📱  本周回應範例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3774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urier New"/>
              </a:rPr>
              <a:t>📊 最近一周新聞分析
📰 總新聞數：2472 則
📈 平均情緒：6.09
📈 正面新聞：913 則
📉 負面新聞：130 則
🔥 本周最熱門股票：
1. 華邦電 (23 則)
2. 旺宏 (22 則)
3. 台積電 (21 則)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技術棧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爬蟲 / 後端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3317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🐍  Python 3.14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4028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01568" y="23317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🌐  curl_cffi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9260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🍲  BeautifulSoup4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83464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01568" y="29260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⚡  asyncio / asyncpg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35204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🧠  NVIDIA NIM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342900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01568" y="35204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🤖  OpenAI SDK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41148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🌶️  Flask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402336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01568" y="41148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🐘  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前端 / 整合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24028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23317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📊  Chart.js v4.4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224028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08008" y="23317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💻  Vanilla JS + CSS3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83464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3368" y="29260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💬  LINE Bot SDK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283464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08008" y="29260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🔗  ngrok (Webhook)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42900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73368" y="35204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🔐  python-dotenv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3429000"/>
            <a:ext cx="26517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08008" y="35204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📋  Windows Task Scheduler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🔒  安全性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541324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API Keys 改用 .env 環境變數  ·  git filter-repo 清除歷史洩漏  ·  .gitignore 防再次 commit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562</Words>
  <Application>Microsoft Office PowerPoint</Application>
  <PresentationFormat>自訂</PresentationFormat>
  <Paragraphs>145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蔡泓賦</cp:lastModifiedBy>
  <cp:revision>2</cp:revision>
  <dcterms:created xsi:type="dcterms:W3CDTF">2013-01-27T09:14:16Z</dcterms:created>
  <dcterms:modified xsi:type="dcterms:W3CDTF">2026-05-10T13:54:05Z</dcterms:modified>
  <cp:category/>
</cp:coreProperties>
</file>