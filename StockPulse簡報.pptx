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28800" y="0"/>
            <a:ext cx="8531352" cy="4114800"/>
          </a:xfrm>
          <a:prstGeom prst="rect">
            <a:avLst/>
          </a:prstGeom>
          <a:solidFill>
            <a:srgbClr val="0D1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745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Calibri"/>
              </a:rPr>
              <a:t>📈  StockPulse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01752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64748B"/>
                </a:solidFill>
                <a:latin typeface="Calibri"/>
              </a:rPr>
              <a:t>股市新聞爬蟲 · 情緒分析 · Dashboard · LINE Bot</a:t>
            </a:r>
          </a:p>
        </p:txBody>
      </p:sp>
      <p:sp>
        <p:nvSpPr>
          <p:cNvPr id="5" name="Rectangle 4"/>
          <p:cNvSpPr/>
          <p:nvPr/>
        </p:nvSpPr>
        <p:spPr>
          <a:xfrm>
            <a:off x="1463040" y="3886200"/>
            <a:ext cx="1600200" cy="411480"/>
          </a:xfrm>
          <a:prstGeom prst="rect">
            <a:avLst/>
          </a:prstGeom>
          <a:solidFill>
            <a:srgbClr val="0D1222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17904" y="3895344"/>
            <a:ext cx="1490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B82F6"/>
                </a:solidFill>
                <a:latin typeface="Calibri"/>
              </a:rPr>
              <a:t>Python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46120" y="3886200"/>
            <a:ext cx="1600200" cy="411480"/>
          </a:xfrm>
          <a:prstGeom prst="rect">
            <a:avLst/>
          </a:prstGeom>
          <a:solidFill>
            <a:srgbClr val="0D1222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00984" y="3895344"/>
            <a:ext cx="1490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8B5CF6"/>
                </a:solidFill>
                <a:latin typeface="Calibri"/>
              </a:rPr>
              <a:t>PostgreSQL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3886200"/>
            <a:ext cx="1600200" cy="411480"/>
          </a:xfrm>
          <a:prstGeom prst="rect">
            <a:avLst/>
          </a:prstGeom>
          <a:solidFill>
            <a:srgbClr val="0D1222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84064" y="3895344"/>
            <a:ext cx="1490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6B6D4"/>
                </a:solidFill>
                <a:latin typeface="Calibri"/>
              </a:rPr>
              <a:t>Flask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2280" y="3886200"/>
            <a:ext cx="1600200" cy="411480"/>
          </a:xfrm>
          <a:prstGeom prst="rect">
            <a:avLst/>
          </a:prstGeom>
          <a:solidFill>
            <a:srgbClr val="0D1222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67144" y="3895344"/>
            <a:ext cx="1490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Calibri"/>
              </a:rPr>
              <a:t>NVIDIA NIM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95360" y="3886200"/>
            <a:ext cx="1600200" cy="411480"/>
          </a:xfrm>
          <a:prstGeom prst="rect">
            <a:avLst/>
          </a:prstGeom>
          <a:solidFill>
            <a:srgbClr val="0D1222"/>
          </a:solidFill>
          <a:ln w="12700">
            <a:solidFill>
              <a:srgbClr val="00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50224" y="3895344"/>
            <a:ext cx="1490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B900"/>
                </a:solidFill>
                <a:latin typeface="Calibri"/>
              </a:rPr>
              <a:t>LINE Bot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30936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Calibri"/>
              </a:rPr>
              <a:t>2026  ·  Brian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  <a:latin typeface="Calibr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系統概覽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920240"/>
            <a:ext cx="2011680" cy="1417320"/>
          </a:xfrm>
          <a:prstGeom prst="rect">
            <a:avLst/>
          </a:prstGeom>
          <a:solidFill>
            <a:srgbClr val="1A2235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920240"/>
            <a:ext cx="201168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🌐
新聞來源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Yahoo / 鉅亨 / NStock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4016" y="2377440"/>
            <a:ext cx="2377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3B82F6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1920240"/>
            <a:ext cx="2011680" cy="1417320"/>
          </a:xfrm>
          <a:prstGeom prst="rect">
            <a:avLst/>
          </a:prstGeom>
          <a:solidFill>
            <a:srgbClr val="1A2235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51760" y="1920240"/>
            <a:ext cx="201168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2011680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🕷️
分級爬蟲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74320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3 來源 × 4 級別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0016" y="2377440"/>
            <a:ext cx="2377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3B82F6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1920240"/>
            <a:ext cx="2011680" cy="1417320"/>
          </a:xfrm>
          <a:prstGeom prst="rect">
            <a:avLst/>
          </a:prstGeom>
          <a:solidFill>
            <a:srgbClr val="1A2235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37760" y="1920240"/>
            <a:ext cx="20116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2011680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🧠
AI 情緒分析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74320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NVIDIA NIM  1–9 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86016" y="2377440"/>
            <a:ext cx="2377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3B82F6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0" y="1920240"/>
            <a:ext cx="2011680" cy="1417320"/>
          </a:xfrm>
          <a:prstGeom prst="rect">
            <a:avLst/>
          </a:prstGeom>
          <a:solidFill>
            <a:srgbClr val="1A223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23760" y="1920240"/>
            <a:ext cx="20116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0" y="2011680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🗄️
PostgreSQL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74320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統一資料庫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2016" y="2377440"/>
            <a:ext cx="23774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3B82F6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0" y="1920240"/>
            <a:ext cx="2011680" cy="1417320"/>
          </a:xfrm>
          <a:prstGeom prst="rect">
            <a:avLst/>
          </a:prstGeom>
          <a:solidFill>
            <a:srgbClr val="1A2235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09760" y="1920240"/>
            <a:ext cx="201168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0" y="2011680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📊
展示層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274320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Dashboard + LINE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3749039"/>
            <a:ext cx="3474720" cy="1417320"/>
          </a:xfrm>
          <a:prstGeom prst="rect">
            <a:avLst/>
          </a:prstGeom>
          <a:solidFill>
            <a:srgbClr val="1A2235"/>
          </a:solidFill>
          <a:ln w="12700">
            <a:solidFill>
              <a:srgbClr val="1E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3749039"/>
            <a:ext cx="347472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3840479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B82F6"/>
                </a:solidFill>
                <a:latin typeface="Calibr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434839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新聞來源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80560" y="3749039"/>
            <a:ext cx="3474720" cy="1417320"/>
          </a:xfrm>
          <a:prstGeom prst="rect">
            <a:avLst/>
          </a:prstGeom>
          <a:solidFill>
            <a:srgbClr val="1A2235"/>
          </a:solidFill>
          <a:ln w="12700">
            <a:solidFill>
              <a:srgbClr val="1E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80560" y="3749039"/>
            <a:ext cx="347472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17720" y="3840479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8B5CF6"/>
                </a:solidFill>
                <a:latin typeface="Calibri"/>
              </a:rPr>
              <a:t>1,949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434839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覆蓋股票數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83880" y="3749039"/>
            <a:ext cx="3474720" cy="1417320"/>
          </a:xfrm>
          <a:prstGeom prst="rect">
            <a:avLst/>
          </a:prstGeom>
          <a:solidFill>
            <a:srgbClr val="1A2235"/>
          </a:solidFill>
          <a:ln w="12700">
            <a:solidFill>
              <a:srgbClr val="1E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83880" y="3749039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21040" y="3840479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0B981"/>
                </a:solidFill>
                <a:latin typeface="Calibri"/>
              </a:rPr>
              <a:t>2,978+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4434839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資料庫新聞筆數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  <a:latin typeface="Calibri"/>
              </a:rPr>
              <a:t>CRAWLERS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爬蟲架構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5486400" cy="1188720"/>
          </a:xfrm>
          <a:prstGeom prst="rect">
            <a:avLst/>
          </a:prstGeom>
          <a:solidFill>
            <a:srgbClr val="1A2235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50800" cy="1188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① Phase 1 — 抓新聞列表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04288"/>
            <a:ext cx="51206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curl_cffi 模擬真實瀏覽器 TLS 指紋，繞過反爬蟲
非同步並發 · 指數退避重試 · 斷點續爬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154680"/>
            <a:ext cx="5486400" cy="1188720"/>
          </a:xfrm>
          <a:prstGeom prst="rect">
            <a:avLst/>
          </a:prstGeom>
          <a:solidFill>
            <a:srgbClr val="1A2235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154680"/>
            <a:ext cx="50800" cy="1188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② Phase 2 — 抓新聞內文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630168"/>
            <a:ext cx="51206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fetch_content.py 補抓完整文章內容
失敗 URL 記錄，可重跑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480560"/>
            <a:ext cx="5486400" cy="1188720"/>
          </a:xfrm>
          <a:prstGeom prst="rect">
            <a:avLst/>
          </a:prstGeom>
          <a:solidFill>
            <a:srgbClr val="1A223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4480560"/>
            <a:ext cx="50800" cy="1188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5720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③ Phase 3 — AI 情緒分析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956048"/>
            <a:ext cx="51206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NVIDIA NIM API（Llama 系列）
給每篇新聞打 1–9 分情緒評分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7373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4748B"/>
                </a:solidFill>
                <a:latin typeface="Calibri"/>
              </a:rPr>
              <a:t>股票分級策略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148840"/>
            <a:ext cx="5303520" cy="960120"/>
          </a:xfrm>
          <a:prstGeom prst="rect">
            <a:avLst/>
          </a:prstGeom>
          <a:solidFill>
            <a:srgbClr val="1A2235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2402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B82F6"/>
                </a:solidFill>
                <a:latin typeface="Calibri"/>
              </a:rPr>
              <a:t>🔥 熱門股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6060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974 支 · 每日抓 3 天內新聞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200400"/>
            <a:ext cx="5303520" cy="960120"/>
          </a:xfrm>
          <a:prstGeom prst="rect">
            <a:avLst/>
          </a:prstGeom>
          <a:solidFill>
            <a:srgbClr val="1A2235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2918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6B6D4"/>
                </a:solidFill>
                <a:latin typeface="Calibri"/>
              </a:rPr>
              <a:t>📊 中間股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65760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487 支 · 每日抓 3 天內新聞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4251960"/>
            <a:ext cx="5303520" cy="960120"/>
          </a:xfrm>
          <a:prstGeom prst="rect">
            <a:avLst/>
          </a:prstGeom>
          <a:solidFill>
            <a:srgbClr val="1A2235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343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Calibri"/>
              </a:rPr>
              <a:t>📉 偏下股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7091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293 支 · 每日抓 7 天內新聞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5303520"/>
            <a:ext cx="5303520" cy="960120"/>
          </a:xfrm>
          <a:prstGeom prst="rect">
            <a:avLst/>
          </a:prstGeom>
          <a:solidFill>
            <a:srgbClr val="1A2235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53949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Calibri"/>
              </a:rPr>
              <a:t>💤 稀少股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57607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195 支 · 每日抓 7 天內新聞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  <a:latin typeface="Calibri"/>
              </a:rPr>
              <a:t>DATA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三大新聞來源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874519"/>
            <a:ext cx="3749039" cy="2926080"/>
          </a:xfrm>
          <a:prstGeom prst="rect">
            <a:avLst/>
          </a:prstGeom>
          <a:solidFill>
            <a:srgbClr val="1A2235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874519"/>
            <a:ext cx="3749039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B5CF6"/>
                </a:solidFill>
                <a:latin typeface="Calibri"/>
              </a:rPr>
              <a:t>🟣  Yahoo 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603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crawler_hot / mid / lower / rare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3580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fetch_content.py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11296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analyze_sentiment.py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86784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5CF6"/>
                </a:solidFill>
                <a:latin typeface="Calibri"/>
              </a:rPr>
              <a:t>→ 6 支腳本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19" y="1874519"/>
            <a:ext cx="3749039" cy="2926080"/>
          </a:xfrm>
          <a:prstGeom prst="rect">
            <a:avLst/>
          </a:prstGeom>
          <a:solidFill>
            <a:srgbClr val="1A2235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19" y="1874519"/>
            <a:ext cx="3749039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79" y="19659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B82F6"/>
                </a:solidFill>
                <a:latin typeface="Calibri"/>
              </a:rPr>
              <a:t>🔵  鉅亨網 Cnyes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25603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crawler_hot / mid / lower / rare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303580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fetch_content.py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3511296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analyze_sentiment.py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3986784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B82F6"/>
                </a:solidFill>
                <a:latin typeface="Calibri"/>
              </a:rPr>
              <a:t>→ 6 支腳本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66758" y="1874519"/>
            <a:ext cx="3749039" cy="2926080"/>
          </a:xfrm>
          <a:prstGeom prst="rect">
            <a:avLst/>
          </a:prstGeom>
          <a:solidFill>
            <a:srgbClr val="1A223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66758" y="1874519"/>
            <a:ext cx="3749039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18" y="19659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  <a:latin typeface="Calibri"/>
              </a:rPr>
              <a:t>🟢  NStock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8" y="256032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crawler_hot / mid / lower / rare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8" y="303580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fetch_content.py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8" y="3511296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analyze_sentiment.py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8" y="3986784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  <a:latin typeface="Calibri"/>
              </a:rPr>
              <a:t>→ 6 支腳本 + 工具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5120640"/>
            <a:ext cx="11365992" cy="1005840"/>
          </a:xfrm>
          <a:prstGeom prst="rect">
            <a:avLst/>
          </a:prstGeom>
          <a:solidFill>
            <a:srgbClr val="1A2235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5193792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⏰  自動化排程 — run_crawlers_daily.bat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5961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開機等待網路 → 清除舊進度 → 3 來源 × 3 Phase → 記錄日誌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  <a:latin typeface="Calibri"/>
              </a:rPr>
              <a:t>DATABASE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資料庫結構（PostgreSQL）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74519"/>
            <a:ext cx="6858000" cy="411480"/>
          </a:xfrm>
          <a:prstGeom prst="rect">
            <a:avLst/>
          </a:prstGeom>
          <a:solidFill>
            <a:srgbClr val="1E3A5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901952"/>
            <a:ext cx="6583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6B6D4"/>
                </a:solidFill>
                <a:latin typeface="Calibri"/>
              </a:rPr>
              <a:t>🗄️  yahoo / cnyes / nstock_stock_news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6858000" cy="429768"/>
          </a:xfrm>
          <a:prstGeom prst="rect">
            <a:avLst/>
          </a:prstGeom>
          <a:solidFill>
            <a:srgbClr val="1A2235"/>
          </a:solidFill>
          <a:ln w="6350">
            <a:solidFill>
              <a:srgbClr val="1E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35915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6B6D4"/>
                </a:solidFill>
                <a:latin typeface="Courier New"/>
              </a:rPr>
              <a:t>stock_id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3591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5CF6"/>
                </a:solidFill>
                <a:latin typeface="Calibri"/>
              </a:rPr>
              <a:t>VARCHAR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3591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股票代碼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6858000" cy="429768"/>
          </a:xfrm>
          <a:prstGeom prst="rect">
            <a:avLst/>
          </a:prstGeom>
          <a:solidFill>
            <a:srgbClr val="1A2235"/>
          </a:solidFill>
          <a:ln w="6350">
            <a:solidFill>
              <a:srgbClr val="1E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788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6B6D4"/>
                </a:solidFill>
                <a:latin typeface="Courier New"/>
              </a:rPr>
              <a:t>title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7889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5CF6"/>
                </a:solidFill>
                <a:latin typeface="Calibri"/>
              </a:rPr>
              <a:t>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788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新聞標題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145536"/>
            <a:ext cx="6858000" cy="429768"/>
          </a:xfrm>
          <a:prstGeom prst="rect">
            <a:avLst/>
          </a:prstGeom>
          <a:solidFill>
            <a:srgbClr val="1A2235"/>
          </a:solidFill>
          <a:ln w="6350">
            <a:solidFill>
              <a:srgbClr val="1E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21868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6B6D4"/>
                </a:solidFill>
                <a:latin typeface="Courier New"/>
              </a:rPr>
              <a:t>link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321868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5CF6"/>
                </a:solidFill>
                <a:latin typeface="Calibri"/>
              </a:rPr>
              <a:t>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321868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原始網址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575304"/>
            <a:ext cx="6858000" cy="429768"/>
          </a:xfrm>
          <a:prstGeom prst="rect">
            <a:avLst/>
          </a:prstGeom>
          <a:solidFill>
            <a:srgbClr val="1A2235"/>
          </a:solidFill>
          <a:ln w="6350">
            <a:solidFill>
              <a:srgbClr val="1E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64845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6B6D4"/>
                </a:solidFill>
                <a:latin typeface="Courier New"/>
              </a:rPr>
              <a:t>content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364845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5CF6"/>
                </a:solidFill>
                <a:latin typeface="Calibri"/>
              </a:rPr>
              <a:t>TEXT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36484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新聞內文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005072"/>
            <a:ext cx="6858000" cy="429768"/>
          </a:xfrm>
          <a:prstGeom prst="rect">
            <a:avLst/>
          </a:prstGeom>
          <a:solidFill>
            <a:srgbClr val="1A2235"/>
          </a:solidFill>
          <a:ln w="6350">
            <a:solidFill>
              <a:srgbClr val="1E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07822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6B6D4"/>
                </a:solidFill>
                <a:latin typeface="Courier New"/>
              </a:rPr>
              <a:t>sentiment_score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0320" y="407822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5CF6"/>
                </a:solidFill>
                <a:latin typeface="Calibri"/>
              </a:rPr>
              <a:t>INTEGER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0782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情緒分數 1–9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434840"/>
            <a:ext cx="6858000" cy="429768"/>
          </a:xfrm>
          <a:prstGeom prst="rect">
            <a:avLst/>
          </a:prstGeom>
          <a:solidFill>
            <a:srgbClr val="1A2235"/>
          </a:solidFill>
          <a:ln w="6350">
            <a:solidFill>
              <a:srgbClr val="1E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50799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6B6D4"/>
                </a:solidFill>
                <a:latin typeface="Courier New"/>
              </a:rPr>
              <a:t>fetched_at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0" y="450799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5CF6"/>
                </a:solidFill>
                <a:latin typeface="Calibri"/>
              </a:rPr>
              <a:t>TIMESTAMP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23360" y="45079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抓取時間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864608"/>
            <a:ext cx="6858000" cy="429768"/>
          </a:xfrm>
          <a:prstGeom prst="rect">
            <a:avLst/>
          </a:prstGeom>
          <a:solidFill>
            <a:srgbClr val="1A2235"/>
          </a:solidFill>
          <a:ln w="6350">
            <a:solidFill>
              <a:srgbClr val="1E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9377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6B6D4"/>
                </a:solidFill>
                <a:latin typeface="Courier New"/>
              </a:rPr>
              <a:t>fetched_date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60320" y="49377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5CF6"/>
                </a:solidFill>
                <a:latin typeface="Calibri"/>
              </a:rPr>
              <a:t>DATE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23360" y="49377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抓取日期（索引）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89520" y="1874519"/>
            <a:ext cx="4206240" cy="411480"/>
          </a:xfrm>
          <a:prstGeom prst="rect">
            <a:avLst/>
          </a:prstGeom>
          <a:solidFill>
            <a:srgbClr val="1E3A5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79" y="1901952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  <a:latin typeface="Calibri"/>
              </a:rPr>
              <a:t>📋  stock_mapping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589520" y="2715768"/>
            <a:ext cx="4206240" cy="429768"/>
          </a:xfrm>
          <a:prstGeom prst="rect">
            <a:avLst/>
          </a:prstGeom>
          <a:solidFill>
            <a:srgbClr val="1A2235"/>
          </a:solidFill>
          <a:ln w="6350">
            <a:solidFill>
              <a:srgbClr val="1E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26679" y="27889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6B6D4"/>
                </a:solidFill>
                <a:latin typeface="Courier New"/>
              </a:rPr>
              <a:t>stock_id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81160" y="27889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5CF6"/>
                </a:solidFill>
                <a:latin typeface="Calibri"/>
              </a:rPr>
              <a:t>VARCHAR PK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589520" y="3145536"/>
            <a:ext cx="4206240" cy="429768"/>
          </a:xfrm>
          <a:prstGeom prst="rect">
            <a:avLst/>
          </a:prstGeom>
          <a:solidFill>
            <a:srgbClr val="1A2235"/>
          </a:solidFill>
          <a:ln w="6350">
            <a:solidFill>
              <a:srgbClr val="1E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26679" y="321868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6B6D4"/>
                </a:solidFill>
                <a:latin typeface="Courier New"/>
              </a:rPr>
              <a:t>stock_name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81160" y="32186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5CF6"/>
                </a:solidFill>
                <a:latin typeface="Calibri"/>
              </a:rPr>
              <a:t>VARCHAR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589520" y="2880360"/>
            <a:ext cx="4206240" cy="1280160"/>
          </a:xfrm>
          <a:prstGeom prst="rect">
            <a:avLst/>
          </a:prstGeom>
          <a:solidFill>
            <a:srgbClr val="1A223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26679" y="2944368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  <a:latin typeface="Calibri"/>
              </a:rPr>
              <a:t>🔗  跨源合併查詢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26679" y="3337560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UNION ALL 合併所有來源
DISTINCT ON 去重
避免同篇新聞重複顯示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  <a:latin typeface="Calibri"/>
              </a:rPr>
              <a:t>FRONTEND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Dashboard 功能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874519"/>
            <a:ext cx="2788920" cy="1325880"/>
          </a:xfrm>
          <a:prstGeom prst="rect">
            <a:avLst/>
          </a:prstGeom>
          <a:solidFill>
            <a:srgbClr val="1A2235"/>
          </a:solidFill>
          <a:ln w="12700">
            <a:solidFill>
              <a:srgbClr val="1E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874519"/>
            <a:ext cx="278892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965959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8B5CF6"/>
                </a:solidFill>
                <a:latin typeface="Calibri"/>
              </a:rPr>
              <a:t>2,472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60319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本週總新聞</a:t>
            </a:r>
          </a:p>
        </p:txBody>
      </p:sp>
      <p:sp>
        <p:nvSpPr>
          <p:cNvPr id="9" name="Rectangle 8"/>
          <p:cNvSpPr/>
          <p:nvPr/>
        </p:nvSpPr>
        <p:spPr>
          <a:xfrm>
            <a:off x="3273552" y="1874519"/>
            <a:ext cx="2788920" cy="1325880"/>
          </a:xfrm>
          <a:prstGeom prst="rect">
            <a:avLst/>
          </a:prstGeom>
          <a:solidFill>
            <a:srgbClr val="1A2235"/>
          </a:solidFill>
          <a:ln w="12700">
            <a:solidFill>
              <a:srgbClr val="1E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73552" y="1874519"/>
            <a:ext cx="27889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0712" y="1965959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C4899"/>
                </a:solidFill>
                <a:latin typeface="Calibri"/>
              </a:rPr>
              <a:t>6.09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712" y="2560319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平均情緒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7064" y="1874519"/>
            <a:ext cx="2788920" cy="1325880"/>
          </a:xfrm>
          <a:prstGeom prst="rect">
            <a:avLst/>
          </a:prstGeom>
          <a:solidFill>
            <a:srgbClr val="1A2235"/>
          </a:solidFill>
          <a:ln w="12700">
            <a:solidFill>
              <a:srgbClr val="1E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27064" y="1874519"/>
            <a:ext cx="278892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224" y="1965959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B82F6"/>
                </a:solidFill>
                <a:latin typeface="Calibri"/>
              </a:rPr>
              <a:t>913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2560319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正面新聞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0576" y="1874519"/>
            <a:ext cx="2788920" cy="1325880"/>
          </a:xfrm>
          <a:prstGeom prst="rect">
            <a:avLst/>
          </a:prstGeom>
          <a:solidFill>
            <a:srgbClr val="1A2235"/>
          </a:solidFill>
          <a:ln w="12700">
            <a:solidFill>
              <a:srgbClr val="1E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80576" y="1874519"/>
            <a:ext cx="27889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17736" y="1965959"/>
            <a:ext cx="2514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59E0B"/>
                </a:solidFill>
                <a:latin typeface="Calibri"/>
              </a:rPr>
              <a:t>130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7736" y="2560319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負面新聞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429000"/>
            <a:ext cx="3749039" cy="2560320"/>
          </a:xfrm>
          <a:prstGeom prst="rect">
            <a:avLst/>
          </a:prstGeom>
          <a:solidFill>
            <a:srgbClr val="1A2235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3429000"/>
            <a:ext cx="3749039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5204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B82F6"/>
                </a:solidFill>
                <a:latin typeface="Calibri"/>
              </a:rPr>
              <a:t>🔥  TOP 5 熱門股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06908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1. 華邦電 (23 則)
2. 旺宏 (22 則)
3. 力積電 (21 則)
4. 台積電 (21 則)
5. 聯電 (21 則)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3429000"/>
            <a:ext cx="3749039" cy="2560320"/>
          </a:xfrm>
          <a:prstGeom prst="rect">
            <a:avLst/>
          </a:prstGeom>
          <a:solidFill>
            <a:srgbClr val="1A2235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06240" y="3429000"/>
            <a:ext cx="3749039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35204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B6D4"/>
                </a:solidFill>
                <a:latin typeface="Calibri"/>
              </a:rPr>
              <a:t>📊  情緒趨勢折線圖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406908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過去 7 天每日平均情緒
Chart.js v4.4 · 橙色主題
趨勢：5.58 → 6.60 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92440" y="3429000"/>
            <a:ext cx="3749039" cy="2560320"/>
          </a:xfrm>
          <a:prstGeom prst="rect">
            <a:avLst/>
          </a:prstGeom>
          <a:solidFill>
            <a:srgbClr val="1A223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92440" y="3429000"/>
            <a:ext cx="3749039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35204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Calibri"/>
              </a:rPr>
              <a:t>⚡  即時更新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069080"/>
            <a:ext cx="3474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每 30 秒自動刷新
最新 20 則新聞串流
近 30 天趨勢圖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00C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  <a:latin typeface="Calibri"/>
              </a:rPr>
              <a:t>LINE 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LINE Bot 指令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74519"/>
            <a:ext cx="5486400" cy="868680"/>
          </a:xfrm>
          <a:prstGeom prst="rect">
            <a:avLst/>
          </a:prstGeom>
          <a:solidFill>
            <a:srgbClr val="1A2235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874519"/>
            <a:ext cx="50800" cy="8686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47671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B82F6"/>
                </a:solidFill>
                <a:latin typeface="Calibri"/>
              </a:rPr>
              <a:t>🔍  查詢 [股票名稱]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31719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查詢特定股票最新新聞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39"/>
            <a:ext cx="5486400" cy="868680"/>
          </a:xfrm>
          <a:prstGeom prst="rect">
            <a:avLst/>
          </a:prstGeom>
          <a:solidFill>
            <a:srgbClr val="1A2235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834639"/>
            <a:ext cx="50800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907791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Calibri"/>
              </a:rPr>
              <a:t>🔥  熱門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291839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最活躍 10 檔股票排行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794759"/>
            <a:ext cx="5486400" cy="868680"/>
          </a:xfrm>
          <a:prstGeom prst="rect">
            <a:avLst/>
          </a:prstGeom>
          <a:solidFill>
            <a:srgbClr val="1A2235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794759"/>
            <a:ext cx="50800" cy="8686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867911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6B6D4"/>
                </a:solidFill>
                <a:latin typeface="Calibri"/>
              </a:rPr>
              <a:t>🆕  最新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251959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最新 5 則新聞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754879"/>
            <a:ext cx="5486400" cy="868680"/>
          </a:xfrm>
          <a:prstGeom prst="rect">
            <a:avLst/>
          </a:prstGeom>
          <a:solidFill>
            <a:srgbClr val="1A223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754879"/>
            <a:ext cx="50800" cy="868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828031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  <a:latin typeface="Calibri"/>
              </a:rPr>
              <a:t>📈  正面 / 負面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212079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依情緒分數過濾（7-9 / 1-3）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14999"/>
            <a:ext cx="5486400" cy="868680"/>
          </a:xfrm>
          <a:prstGeom prst="rect">
            <a:avLst/>
          </a:prstGeom>
          <a:solidFill>
            <a:srgbClr val="1A2235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714999"/>
            <a:ext cx="50800" cy="8686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788151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Calibri"/>
              </a:rPr>
              <a:t>📊  一周 / 本周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172199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最近 7 天新聞分析摘要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1874519"/>
            <a:ext cx="5303520" cy="3794760"/>
          </a:xfrm>
          <a:prstGeom prst="rect">
            <a:avLst/>
          </a:prstGeom>
          <a:solidFill>
            <a:srgbClr val="06122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193852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  <a:latin typeface="Calibri"/>
              </a:rPr>
              <a:t>📱  本周回應範例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23774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ourier New"/>
              </a:rPr>
              <a:t>📊 最近一周新聞分析
📰 總新聞數：2472 則
📈 平均情緒：6.09
📈 正面新聞：913 則
📉 負面新聞：130 則
🔥 本周最熱門股票：
1. 華邦電 (23 則)
2. 旺宏 (22 則)
3. 台積電 (21 則)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  <a:latin typeface="Calibri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技術棧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4748B"/>
                </a:solidFill>
                <a:latin typeface="Calibri"/>
              </a:rPr>
              <a:t>爬蟲 / 後端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240280"/>
            <a:ext cx="2651760" cy="502920"/>
          </a:xfrm>
          <a:prstGeom prst="rect">
            <a:avLst/>
          </a:prstGeom>
          <a:solidFill>
            <a:srgbClr val="1A2235"/>
          </a:solidFill>
          <a:ln w="12700">
            <a:solidFill>
              <a:srgbClr val="1E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331720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🐍  Python 3.14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240280"/>
            <a:ext cx="2651760" cy="502920"/>
          </a:xfrm>
          <a:prstGeom prst="rect">
            <a:avLst/>
          </a:prstGeom>
          <a:solidFill>
            <a:srgbClr val="1A2235"/>
          </a:solidFill>
          <a:ln w="12700">
            <a:solidFill>
              <a:srgbClr val="1E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01568" y="2331720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🌐  curl_cffi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834640"/>
            <a:ext cx="2651760" cy="502920"/>
          </a:xfrm>
          <a:prstGeom prst="rect">
            <a:avLst/>
          </a:prstGeom>
          <a:solidFill>
            <a:srgbClr val="1A2235"/>
          </a:solidFill>
          <a:ln w="12700">
            <a:solidFill>
              <a:srgbClr val="1E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926080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🍲  BeautifulSoup4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2834640"/>
            <a:ext cx="2651760" cy="502920"/>
          </a:xfrm>
          <a:prstGeom prst="rect">
            <a:avLst/>
          </a:prstGeom>
          <a:solidFill>
            <a:srgbClr val="1A2235"/>
          </a:solidFill>
          <a:ln w="12700">
            <a:solidFill>
              <a:srgbClr val="1E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2926080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⚡  asyncio / asyncpg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429000"/>
            <a:ext cx="2651760" cy="502920"/>
          </a:xfrm>
          <a:prstGeom prst="rect">
            <a:avLst/>
          </a:prstGeom>
          <a:solidFill>
            <a:srgbClr val="1A2235"/>
          </a:solidFill>
          <a:ln w="12700">
            <a:solidFill>
              <a:srgbClr val="1E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🧠  NVIDIA NIM API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3429000"/>
            <a:ext cx="2651760" cy="502920"/>
          </a:xfrm>
          <a:prstGeom prst="rect">
            <a:avLst/>
          </a:prstGeom>
          <a:solidFill>
            <a:srgbClr val="1A2235"/>
          </a:solidFill>
          <a:ln w="12700">
            <a:solidFill>
              <a:srgbClr val="1E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01568" y="3520440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🤖  OpenAI SDK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2651760" cy="502920"/>
          </a:xfrm>
          <a:prstGeom prst="rect">
            <a:avLst/>
          </a:prstGeom>
          <a:solidFill>
            <a:srgbClr val="1A2235"/>
          </a:solidFill>
          <a:ln w="12700">
            <a:solidFill>
              <a:srgbClr val="1E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4114800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🌶️  Flask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0" y="4023360"/>
            <a:ext cx="2651760" cy="502920"/>
          </a:xfrm>
          <a:prstGeom prst="rect">
            <a:avLst/>
          </a:prstGeom>
          <a:solidFill>
            <a:srgbClr val="1A2235"/>
          </a:solidFill>
          <a:ln w="12700">
            <a:solidFill>
              <a:srgbClr val="1E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1568" y="4114800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🐘  PostgreSQL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1828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4748B"/>
                </a:solidFill>
                <a:latin typeface="Calibri"/>
              </a:rPr>
              <a:t>前端 / 整合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240280"/>
            <a:ext cx="2651760" cy="502920"/>
          </a:xfrm>
          <a:prstGeom prst="rect">
            <a:avLst/>
          </a:prstGeom>
          <a:solidFill>
            <a:srgbClr val="1A2235"/>
          </a:solidFill>
          <a:ln w="12700">
            <a:solidFill>
              <a:srgbClr val="1E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3368" y="2331720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📊  Chart.js v4.4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98280" y="2240280"/>
            <a:ext cx="2651760" cy="502920"/>
          </a:xfrm>
          <a:prstGeom prst="rect">
            <a:avLst/>
          </a:prstGeom>
          <a:solidFill>
            <a:srgbClr val="1A2235"/>
          </a:solidFill>
          <a:ln w="12700">
            <a:solidFill>
              <a:srgbClr val="1E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08008" y="2331720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💻  Vanilla JS + CSS3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2834640"/>
            <a:ext cx="2651760" cy="502920"/>
          </a:xfrm>
          <a:prstGeom prst="rect">
            <a:avLst/>
          </a:prstGeom>
          <a:solidFill>
            <a:srgbClr val="1A2235"/>
          </a:solidFill>
          <a:ln w="12700">
            <a:solidFill>
              <a:srgbClr val="1E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3368" y="2926080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💬  LINE Bot SDK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98280" y="2834640"/>
            <a:ext cx="2651760" cy="502920"/>
          </a:xfrm>
          <a:prstGeom prst="rect">
            <a:avLst/>
          </a:prstGeom>
          <a:solidFill>
            <a:srgbClr val="1A2235"/>
          </a:solidFill>
          <a:ln w="12700">
            <a:solidFill>
              <a:srgbClr val="1E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08008" y="2926080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🔗  ngrok (Webhook)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63640" y="3429000"/>
            <a:ext cx="2651760" cy="502920"/>
          </a:xfrm>
          <a:prstGeom prst="rect">
            <a:avLst/>
          </a:prstGeom>
          <a:solidFill>
            <a:srgbClr val="1A2235"/>
          </a:solidFill>
          <a:ln w="12700">
            <a:solidFill>
              <a:srgbClr val="1E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73368" y="3520440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🔐  python-dotenv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98280" y="3429000"/>
            <a:ext cx="2651760" cy="502920"/>
          </a:xfrm>
          <a:prstGeom prst="rect">
            <a:avLst/>
          </a:prstGeom>
          <a:solidFill>
            <a:srgbClr val="1A2235"/>
          </a:solidFill>
          <a:ln w="12700">
            <a:solidFill>
              <a:srgbClr val="1E2D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8008" y="3520440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📋  Windows Task Scheduler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349240"/>
            <a:ext cx="11274552" cy="914400"/>
          </a:xfrm>
          <a:prstGeom prst="rect">
            <a:avLst/>
          </a:prstGeom>
          <a:solidFill>
            <a:srgbClr val="1A2235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5394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Calibri"/>
              </a:rPr>
              <a:t>🔒  安全性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5413248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API Keys 改用 .env 環境變數  ·  git filter-repo 清除歷史洩漏  ·  .gitignore 防再次 commit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B82F6"/>
                </a:solidFill>
                <a:latin typeface="Calibr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未來規劃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74519"/>
            <a:ext cx="5486400" cy="3200400"/>
          </a:xfrm>
          <a:prstGeom prst="rect">
            <a:avLst/>
          </a:prstGeom>
          <a:solidFill>
            <a:srgbClr val="1A2235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874519"/>
            <a:ext cx="54864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3852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B82F6"/>
                </a:solidFill>
                <a:latin typeface="Calibri"/>
              </a:rPr>
              <a:t>🔥  短期優化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48716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→  週對比功能（本周 vs 上周）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175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→  行業分類分析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547872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→  移動端 Dashboard 優化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78224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→  LINE Bot 圖片回覆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874519"/>
            <a:ext cx="5486400" cy="3200400"/>
          </a:xfrm>
          <a:prstGeom prst="rect">
            <a:avLst/>
          </a:prstGeom>
          <a:solidFill>
            <a:srgbClr val="1A2235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874519"/>
            <a:ext cx="548640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93852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5CF6"/>
                </a:solidFill>
                <a:latin typeface="Calibri"/>
              </a:rPr>
              <a:t>🚀  長期擴展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48716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→  自訂時間範圍查詢（3/14/30 天）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0175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→  情緒異常波動預警通知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547872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→  匯出 PDF 報告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078224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  <a:latin typeface="Calibri"/>
              </a:rPr>
              <a:t>→  郵件訂閱功能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394960"/>
            <a:ext cx="11274552" cy="1097280"/>
          </a:xfrm>
          <a:prstGeom prst="rect">
            <a:avLst/>
          </a:prstGeom>
          <a:solidFill>
            <a:srgbClr val="0D1A38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4864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🎉  謝謝觀看   ·   StockPulse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